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Wix Madefor Display Medium"/>
      <p:regular r:id="rId201314"/>
    </p:embeddedFont>
    <p:embeddedFont>
      <p:font typeface="Wix Madefor Text"/>
      <p:regular r:id="rId201315"/>
    </p:embeddedFont>
    <p:embeddedFont>
      <p:font typeface="Wix Madefor Text Medium"/>
      <p:regular r:id="rId201316"/>
    </p:embeddedFont>
    <p:embeddedFont>
      <p:font typeface="Wix Madefor Text SemiBold"/>
      <p:regular r:id="rId201317"/>
    </p:embeddedFont>
    <p:embeddedFont>
      <p:font typeface="Wix Madefor Tex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872754"/>
            <a:ext cx="772140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CUSTOMER SHOPPING BEHAVIOR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2164854"/>
            <a:ext cx="7111822" cy="197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800" spc="-96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Customer shopping behavior,</a:t>
            </a:r>
            <a:endParaRPr lang="en-US" sz="48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800" spc="-96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in one 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11182" y="4359176"/>
            <a:ext cx="71118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concise Data Driven Presentation on revenue, loyalty, subscriptions, demand signals, and the next operating moves.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068314"/>
            <a:ext cx="661911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THE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2360414"/>
            <a:ext cx="600952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A $233K dataset reveals a repeat-buyer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1182" y="3429595"/>
            <a:ext cx="1774582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436E4D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3,900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1182" y="4163616"/>
            <a:ext cx="200317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purchases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42953" y="3429595"/>
            <a:ext cx="154598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3F6284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$59.7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42953" y="4163616"/>
            <a:ext cx="154598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average purchase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46129" y="3429595"/>
            <a:ext cx="1774582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A2502D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3.75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46129" y="4163616"/>
            <a:ext cx="17745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average review rating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08009" y="3429595"/>
            <a:ext cx="12700" cy="1360091"/>
          </a:xfrm>
          <a:prstGeom prst="rect">
            <a:avLst/>
          </a:prstGeom>
          <a:solidFill>
            <a:srgbClr val="DEDAD2"/>
          </a:solidFill>
          <a:ln/>
        </p:spPr>
      </p:sp>
      <p:sp>
        <p:nvSpPr>
          <p:cNvPr id="11" name="Shape 9"/>
          <p:cNvSpPr/>
          <p:nvPr/>
        </p:nvSpPr>
        <p:spPr>
          <a:xfrm>
            <a:off x="4711185" y="3429595"/>
            <a:ext cx="12700" cy="1360091"/>
          </a:xfrm>
          <a:prstGeom prst="rect">
            <a:avLst/>
          </a:prstGeom>
          <a:solidFill>
            <a:srgbClr val="DEDAD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CATEGORY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Clothing drives the business, with accessories close behind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623616"/>
            <a:ext cx="10769331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182" y="5519341"/>
            <a:ext cx="1137891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6B6A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Clothing is the clear scale engine; accessories is the strongest secondary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AGE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Young adults lead revenue, but the age mix is balanced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623616"/>
            <a:ext cx="10769331" cy="361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182" y="5328841"/>
            <a:ext cx="1137891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6B6A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Young adults contribute the most, but no single age group dominates the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CUSTOMER SEGMENTS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Loyalty is the biggest asset — and the biggest unlock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1623616"/>
            <a:ext cx="10769331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182" y="5246291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Move returning buyers into loyal behavior while keeping the top of funnel healthy.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583679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SUBSCRIPTION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522720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Subscriptions are underpenetrated, not under-relevant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404170"/>
            <a:ext cx="5206870" cy="3621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7845" y="1296491"/>
            <a:ext cx="366266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436E4D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27%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817845" y="2030512"/>
            <a:ext cx="3662668" cy="1758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of customers are subscribers: 1,053 total, $62.6K revenue.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Non-subscribers represent 73% of customers: 2,847 total, $170.4K revenue.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7845" y="3983038"/>
            <a:ext cx="366266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6B6A66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Average purchase is nearly flat: $59.49 subscribed vs. $59.87 not subscribed.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17845" y="4622403"/>
            <a:ext cx="3662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The opportunity is conversion and retention value, not simply a higher basket size.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DEMAND SIGNALS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Discounts influence demand, but they are not the whole value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2072481"/>
            <a:ext cx="3386549" cy="2779812"/>
          </a:xfrm>
          <a:prstGeom prst="roundRect">
            <a:avLst>
              <a:gd name="adj" fmla="val 411"/>
            </a:avLst>
          </a:prstGeom>
          <a:solidFill>
            <a:srgbClr val="F1D5C3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2301081"/>
            <a:ext cx="292936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000000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50.00%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9776" y="2946202"/>
            <a:ext cx="292936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Highest discount rate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9776" y="3393182"/>
            <a:ext cx="292936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Hat 50.00%, Sneakers 49.66%, Coat 49.07%, Sweater 48.17%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02523" y="2072481"/>
            <a:ext cx="3386549" cy="2779812"/>
          </a:xfrm>
          <a:prstGeom prst="roundRect">
            <a:avLst>
              <a:gd name="adj" fmla="val 411"/>
            </a:avLst>
          </a:prstGeom>
          <a:solidFill>
            <a:srgbClr val="D3DEEA"/>
          </a:solidFill>
          <a:ln/>
        </p:spPr>
      </p:sp>
      <p:sp>
        <p:nvSpPr>
          <p:cNvPr id="9" name="Text 7"/>
          <p:cNvSpPr/>
          <p:nvPr/>
        </p:nvSpPr>
        <p:spPr>
          <a:xfrm>
            <a:off x="4631118" y="2301081"/>
            <a:ext cx="292936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000000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11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1118" y="2946202"/>
            <a:ext cx="292936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High-spending discount users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1118" y="3684588"/>
            <a:ext cx="292936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Identified customers above the average purchase amount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93865" y="2072481"/>
            <a:ext cx="3386549" cy="2779812"/>
          </a:xfrm>
          <a:prstGeom prst="roundRect">
            <a:avLst>
              <a:gd name="adj" fmla="val 411"/>
            </a:avLst>
          </a:prstGeom>
          <a:solidFill>
            <a:srgbClr val="EDE3D1"/>
          </a:solidFill>
          <a:ln/>
        </p:spPr>
      </p:sp>
      <p:sp>
        <p:nvSpPr>
          <p:cNvPr id="13" name="Text 11"/>
          <p:cNvSpPr/>
          <p:nvPr/>
        </p:nvSpPr>
        <p:spPr>
          <a:xfrm>
            <a:off x="8322459" y="2301081"/>
            <a:ext cx="292936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000000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$60.48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2459" y="2946202"/>
            <a:ext cx="292936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Express average purchase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2459" y="3393182"/>
            <a:ext cx="292936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Express buyers average $60.48 vs. $58.46 for Standard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1182" y="5045968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 targeted incentives and premium fulfillment instead of broad discounting.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PRODUCT SIGNALS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Top products combine volume and satisfaction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1182" y="1645841"/>
            <a:ext cx="5156071" cy="2317651"/>
          </a:xfrm>
          <a:prstGeom prst="rect">
            <a:avLst/>
          </a:prstGeom>
          <a:solidFill>
            <a:srgbClr val="F2EFE9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1874441"/>
            <a:ext cx="46988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Top-rated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9776" y="2344341"/>
            <a:ext cx="4698882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-80" kern="100" dirty="0">
                <a:solidFill>
                  <a:srgbClr val="436E4D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3.86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9776" y="3078361"/>
            <a:ext cx="46988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Gloves 3.86, Sandals 3.84, Boots 3.82, Hat 3.80, Skirt 3.78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2" y="1645841"/>
            <a:ext cx="5156071" cy="2317651"/>
          </a:xfrm>
          <a:prstGeom prst="rect">
            <a:avLst/>
          </a:prstGeom>
          <a:solidFill>
            <a:srgbClr val="F1D5C3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1874441"/>
            <a:ext cx="46988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Category leaders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53036" y="2344341"/>
            <a:ext cx="4698882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spc="-80" kern="100" dirty="0">
                <a:solidFill>
                  <a:srgbClr val="783B21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53036" y="3108821"/>
            <a:ext cx="46988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Jewelry, Blouse, Sandals, and Jacket top their categories by orders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1182" y="4157166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Use products that already win on rating or orders as campaign anchors and cross-sell hubs.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THE OPERATING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The growth path is a focused operating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1182" y="1645841"/>
            <a:ext cx="85464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F3A33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182" y="1948061"/>
            <a:ext cx="2463738" cy="19050"/>
          </a:xfrm>
          <a:prstGeom prst="rect">
            <a:avLst/>
          </a:prstGeom>
          <a:solidFill>
            <a:srgbClr val="1F3A33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096591"/>
            <a:ext cx="246373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Convert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2543572"/>
            <a:ext cx="246373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Convert loyal and returning buyers into subscribers with exclusive benefits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9713" y="1645841"/>
            <a:ext cx="86715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F3A33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9713" y="1948061"/>
            <a:ext cx="2463738" cy="19050"/>
          </a:xfrm>
          <a:prstGeom prst="rect">
            <a:avLst/>
          </a:prstGeom>
          <a:solidFill>
            <a:srgbClr val="1F3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9713" y="2096591"/>
            <a:ext cx="246373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Reward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9713" y="2543572"/>
            <a:ext cx="246373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Reward repeat behavior to grow the loyal segment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1645841"/>
            <a:ext cx="8751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F3A33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1948061"/>
            <a:ext cx="2463738" cy="19050"/>
          </a:xfrm>
          <a:prstGeom prst="rect">
            <a:avLst/>
          </a:prstGeom>
          <a:solidFill>
            <a:srgbClr val="1F3A3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096591"/>
            <a:ext cx="246373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Refine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2543572"/>
            <a:ext cx="246373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Refine discounting around high-response products and margin thresholds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16774" y="1645841"/>
            <a:ext cx="88818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F3A33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16774" y="1948061"/>
            <a:ext cx="2463738" cy="19050"/>
          </a:xfrm>
          <a:prstGeom prst="rect">
            <a:avLst/>
          </a:prstGeom>
          <a:solidFill>
            <a:srgbClr val="1F3A33"/>
          </a:solidFill>
          <a:ln/>
        </p:spPr>
      </p:sp>
      <p:sp>
        <p:nvSpPr>
          <p:cNvPr id="18" name="Text 16"/>
          <p:cNvSpPr/>
          <p:nvPr/>
        </p:nvSpPr>
        <p:spPr>
          <a:xfrm>
            <a:off x="9016774" y="2096591"/>
            <a:ext cx="246373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26282B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Target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16774" y="2543572"/>
            <a:ext cx="246373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Target age groups and express-shipping users with relevant offers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6B6A66"/>
                </a:solidFill>
                <a:latin typeface="Wix Madefor Text Medium" pitchFamily="34" charset="0"/>
                <a:ea typeface="Wix Madefor Text Medium" pitchFamily="34" charset="-122"/>
                <a:cs typeface="Wix Madefor Text Medium" pitchFamily="34" charset="-120"/>
              </a:rPr>
              <a:t>NEXT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11182" y="1003300"/>
            <a:ext cx="10769331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26282B"/>
                </a:solidFill>
                <a:latin typeface="Wix Madefor Display Medium" pitchFamily="34" charset="0"/>
                <a:ea typeface="Wix Madefor Display Medium" pitchFamily="34" charset="-122"/>
                <a:cs typeface="Wix Madefor Display Medium" pitchFamily="34" charset="-120"/>
              </a:rPr>
              <a:t>What to measure next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182" y="1645841"/>
          <a:ext cx="10769331" cy="914400"/>
        </p:xfrm>
        <a:graphic>
          <a:graphicData uri="http://schemas.openxmlformats.org/drawingml/2006/table">
            <a:tbl>
              <a:tblPr/>
              <a:tblGrid>
                <a:gridCol w="3015381"/>
                <a:gridCol w="7753950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6282B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Measure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6282B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Track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Subscription conversion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Track by customer segment and category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Retention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Monitor returning-to-loyal movement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Promotion efficiency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Compare incremental revenue with discount cost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Product momentum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3B3E"/>
                          </a:solidFill>
                          <a:latin typeface="Wix Madefor Text" pitchFamily="34" charset="0"/>
                          <a:ea typeface="Wix Madefor Text" pitchFamily="34" charset="-122"/>
                          <a:cs typeface="Wix Madefor Text" pitchFamily="34" charset="-120"/>
                        </a:rPr>
                        <a:t>Pair rating, orders, and repeat purchase behavior</a:t>
                      </a:r>
                      <a:endParaRPr lang="en-US" sz="1700" dirty="0">
                        <a:latin typeface="Wix Madefor Text" charset="0"/>
                        <a:ea typeface="Wix Madefor Text" charset="0"/>
                        <a:cs typeface="Wix Madefor Tex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A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1182" y="4318695"/>
            <a:ext cx="1137891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B3E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Turn the report into a recurring decision dashboard.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2026-10-06T12:44:45Z</dcterms:created>
  <dcterms:modified xsi:type="dcterms:W3CDTF">2026-10-06T12:44:45Z</dcterms:modified>
</cp:coreProperties>
</file>